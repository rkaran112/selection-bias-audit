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410C"/>
                </a:solidFill>
                <a:latin typeface="Calibri"/>
              </a:rPr>
              <a:t>SELECTION-BIAS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B1B1F"/>
                </a:solidFill>
                <a:latin typeface="Calibri"/>
              </a:rPr>
              <a:t>Is your scorecard's Gini real?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Your model is validated only on applicants you approved.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This audit measures how much that flatters it, and tests whether the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standard corrections can be trusted to fix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LendingClub 2007-2018  |  2,260,668 approved loans, 27,648,741 declines  |  seed 20260901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7490"/>
                </a:solidFill>
                <a:latin typeface="Calibri"/>
              </a:rPr>
              <a:t>Every number reproducible: make data &amp;&amp; make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C2410C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B1B1F"/>
                </a:solidFill>
                <a:latin typeface="Calibri"/>
              </a:rPr>
              <a:t>You only ever see the applicants you approved</a:t>
            </a:r>
          </a:p>
        </p:txBody>
      </p:sp>
      <p:pic>
        <p:nvPicPr>
          <p:cNvPr id="5" name="Picture 4" descr="01_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11247120" cy="31870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5780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LendingClub approved 7.6% of applications. Only 33.2% of scored declines reach the 1st percentile of the approved book, and 67% of declines carry no bureau score at all.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The two populations barely overlap. That is the whole problem, and also the limit on how well anyone can solve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C2410C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B1B1F"/>
                </a:solidFill>
                <a:latin typeface="Calibri"/>
              </a:rPr>
              <a:t>Here is your measured Gini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3566160" cy="160020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28216"/>
            <a:ext cx="3163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GINI (held-out, approved loans)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020824"/>
            <a:ext cx="31638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1B1F"/>
                </a:solidFill>
                <a:latin typeface="Calibri"/>
              </a:rPr>
              <a:t>0.2803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715768"/>
            <a:ext cx="3163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the number you report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66160" cy="160020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728216"/>
            <a:ext cx="3163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2020824"/>
            <a:ext cx="31638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1B1F"/>
                </a:solidFill>
                <a:latin typeface="Calibri"/>
              </a:rPr>
              <a:t>0.2018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715768"/>
            <a:ext cx="3163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same population, same caveat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66160" cy="160020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728216"/>
            <a:ext cx="3163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OBSERVED BAD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2020824"/>
            <a:ext cx="31638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1B1F"/>
                </a:solidFill>
                <a:latin typeface="Calibri"/>
              </a:rPr>
              <a:t>19.9%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715768"/>
            <a:ext cx="3163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on settled approved loans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52044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B1F"/>
                </a:solidFill>
                <a:latin typeface="Calibri"/>
              </a:rPr>
              <a:t>A conventional WOE + logistic application scorecard on the four fields both populations share.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B1F"/>
                </a:solidFill>
                <a:latin typeface="Calibri"/>
              </a:rPr>
              <a:t>It is a perfectly good model. The problem is not the model - it is that this number was measured on a population your cutoff already filtered. It answers 'how well do I rank the people I said yes to?', not 'how well do I rank everyone who walks in the door?'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C2410C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B1B1F"/>
                </a:solidFill>
                <a:latin typeface="Calibri"/>
              </a:rPr>
              <a:t>Here is your corrected Gini - four ways, and they disagree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206240"/>
                <a:gridCol w="2834640"/>
              </a:tblGrid>
              <a:tr h="4419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1B1F"/>
                          </a:solidFill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1B1F"/>
                          </a:solidFill>
                        </a:rPr>
                        <a:t>Est. through-the-door bad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1B1F"/>
                          </a:solidFill>
                        </a:rPr>
                        <a:t>Claimed Gini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</a:rPr>
                        <a:t>parcelling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</a:rPr>
                        <a:t>42.53%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</a:rPr>
                        <a:t>0.4249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</a:rPr>
                        <a:t>fuzzy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</a:rPr>
                        <a:t>43.59%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</a:rPr>
                        <a:t>0.4602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</a:rPr>
                        <a:t>ipw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</a:rPr>
                        <a:t>20.71%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</a:rPr>
                        <a:t>0.2767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</a:rPr>
                        <a:t>heckman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</a:rPr>
                        <a:t>23.65%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</a:rPr>
                        <a:t>0.2861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</a:rPr>
                        <a:t>no correction (observed)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</a:rPr>
                        <a:t>19.88%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</a:rPr>
                        <a:t>0.2803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4348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Four defensible methods. Percentage points apart on the same data.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spread between them IS the uncertainty - and no amount of argument about which is theoretically nicer resolves it.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So the next slide stops arguing and runs an experiment.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C2410C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B1B1F"/>
                </a:solidFill>
                <a:latin typeface="Calibri"/>
              </a:rPr>
              <a:t>Can you trust the correction? Manufacture the truth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2615184" cy="160020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73936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066544"/>
            <a:ext cx="2212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1B1F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1B1F"/>
                </a:solidFill>
                <a:latin typeface="Calibri"/>
              </a:rPr>
              <a:t>Take only approved loans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every outcome is known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45920"/>
            <a:ext cx="2615184" cy="160020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773936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066544"/>
            <a:ext cx="2212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1B1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1965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1B1F"/>
                </a:solidFill>
                <a:latin typeface="Calibri"/>
              </a:rPr>
              <a:t>Impose an artificial cutoff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discard outcomes below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645920"/>
            <a:ext cx="2615184" cy="160020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73936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66544"/>
            <a:ext cx="2212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1B1F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65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1B1F"/>
                </a:solidFill>
                <a:latin typeface="Calibri"/>
              </a:rPr>
              <a:t>Run all four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on a synthetic decline population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15984" y="1645920"/>
            <a:ext cx="2615184" cy="160020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7152" y="1773936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2066544"/>
            <a:ext cx="2212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1B1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1965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1B1F"/>
                </a:solidFill>
                <a:latin typeface="Calibri"/>
              </a:rPr>
              <a:t>Compare against the truth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that we deliberately hid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65760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B1F"/>
                </a:solidFill>
                <a:latin typeface="Calibri"/>
              </a:rPr>
              <a:t>Reject inference is normally unfalsifiable - you cannot check an inferred bad rate against outcomes that do not exist.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B1F"/>
                </a:solidFill>
                <a:latin typeface="Calibri"/>
              </a:rPr>
              <a:t>This makes it falsifiable. Swept across rejection rates of 10%, 30%, 50%, 70%, with 5 replicates each, under three cutoff shapes: a hard risk threshold, a threshold with override noise, and - critically - a random cutoff where the correct answer is known to be 'do nothing'.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C2410C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B1B1F"/>
                </a:solidFill>
                <a:latin typeface="Calibri"/>
              </a:rPr>
              <a:t>How each method degrades as you decline more</a:t>
            </a:r>
          </a:p>
        </p:txBody>
      </p:sp>
      <p:pic>
        <p:nvPicPr>
          <p:cNvPr id="5" name="Picture 4" descr="03_sweep_bad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11247120" cy="33347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34924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Least biased on risk-based cutoffs: ipw (1.77 pp mean absolute error). Shaded bands are across-replicate variation.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heckman and ipw held within 2 pp up to a 30% rejection rate, beyond which every method exceeds it. Applying no correction at all held equally far (30%), so on this evidence none of the four earned its place.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C2410C"/>
                </a:solidFill>
                <a:latin typeface="Calibri"/>
              </a:rPr>
              <a:t>PART 3 - THE NULL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B1B1F"/>
                </a:solidFill>
                <a:latin typeface="Calibri"/>
              </a:rPr>
              <a:t>Which methods invent a bias that isn't there?</a:t>
            </a:r>
          </a:p>
        </p:txBody>
      </p:sp>
      <p:pic>
        <p:nvPicPr>
          <p:cNvPr id="5" name="Picture 4" descr="06_null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0"/>
            <a:ext cx="6766560" cy="30651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600200"/>
            <a:ext cx="4114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B1B1F"/>
                </a:solidFill>
                <a:latin typeface="Calibri"/>
              </a:rPr>
              <a:t>Replace the risk cutoff with a RANDOM one.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B1B1F"/>
                </a:solidFill>
                <a:latin typeface="Calibri"/>
              </a:rPr>
              <a:t>Now there is no selection bias. The correct answer from every method is zero correction.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B1B1F"/>
                </a:solidFill>
                <a:latin typeface="Calibri"/>
              </a:rPr>
              <a:t>fuzzy:  +7.6 pp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B1B1F"/>
                </a:solidFill>
                <a:latin typeface="Calibri"/>
              </a:rPr>
              <a:t>parcelling:  +7.6 pp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B1B1F"/>
                </a:solidFill>
                <a:latin typeface="Calibri"/>
              </a:rPr>
              <a:t>heckman:  +2.5 pp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B1B1F"/>
                </a:solidFill>
                <a:latin typeface="Calibri"/>
              </a:rPr>
              <a:t>The top two assume declines are worse by a fixed multiple, so they fire whether or not selection was informative.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B1B1F"/>
                </a:solidFill>
                <a:latin typeface="Calibri"/>
              </a:rPr>
              <a:t>Heckman's is smaller and has a different cause: under a random cutoff rho is unidentified. Its significance test stays honest; the point estimate drifts.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50292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Calibri"/>
              </a:rPr>
              <a:t>Passes the null: ipw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C2410C"/>
                </a:solidFill>
                <a:latin typeface="Calibri"/>
              </a:rPr>
              <a:t>PART 2 - THE ECONOMETRIC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B1B1F"/>
                </a:solidFill>
                <a:latin typeface="Calibri"/>
              </a:rPr>
              <a:t>How much selection bias is actually in this portfolio?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3566160" cy="160020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00784"/>
            <a:ext cx="3163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SELECTION CORRELATION (rho)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993392"/>
            <a:ext cx="31638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Calibri"/>
              </a:rPr>
              <a:t>0.018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688336"/>
            <a:ext cx="3163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bivariate probit, full 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572768"/>
            <a:ext cx="3566160" cy="160020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700784"/>
            <a:ext cx="3163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LIKELIHOOD-RATIO 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993392"/>
            <a:ext cx="31638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1B1F"/>
                </a:solidFill>
                <a:latin typeface="Calibri"/>
              </a:rPr>
              <a:t>0.319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688336"/>
            <a:ext cx="3163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H0: rho =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572768"/>
            <a:ext cx="3566160" cy="160020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700784"/>
            <a:ext cx="3163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VERDICT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1993392"/>
            <a:ext cx="31638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Calibri"/>
              </a:rPr>
              <a:t>SMALL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688336"/>
            <a:ext cx="3163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on the shared 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47472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B1F"/>
                </a:solidFill>
                <a:latin typeface="Calibri"/>
              </a:rPr>
              <a:t>rho is the correlation between the unobserved drivers of approval and of default. It is not distinguishable from zero here.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B1F"/>
                </a:solidFill>
                <a:latin typeface="Calibri"/>
              </a:rPr>
              <a:t>The honest reading: on the fields these two populations share, approval carried little information about default beyond what the scorecard already uses. Selection bias in this portfolio is small.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B1F"/>
                </a:solidFill>
                <a:latin typeface="Calibri"/>
              </a:rPr>
              <a:t>Manufacturing a larger correction would be the actual failure - and note that 3 of the four methods do exactly that.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C2410C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B1B1F"/>
                </a:solidFill>
                <a:latin typeface="Calibri"/>
              </a:rPr>
              <a:t>What is your cutoff costing you?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3566160" cy="160020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00784"/>
            <a:ext cx="3163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BREAK-EVEN BAD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993392"/>
            <a:ext cx="31638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1B1F"/>
                </a:solidFill>
                <a:latin typeface="Calibri"/>
              </a:rPr>
              <a:t>14.7%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688336"/>
            <a:ext cx="3163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36-month loan, measured yields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572768"/>
            <a:ext cx="3566160" cy="160020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700784"/>
            <a:ext cx="3163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SWAP-IN BAD RATE (RANGE)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993392"/>
            <a:ext cx="31638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1B1F"/>
                </a:solidFill>
                <a:latin typeface="Calibri"/>
              </a:rPr>
              <a:t>12.5%-19.2%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688336"/>
            <a:ext cx="3163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across the four methods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572768"/>
            <a:ext cx="3566160" cy="160020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700784"/>
            <a:ext cx="3163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PROFIT EFFECT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1993392"/>
            <a:ext cx="31638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C2410C"/>
                </a:solidFill>
                <a:latin typeface="Calibri"/>
              </a:rPr>
              <a:t>-$662m to -$280m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688336"/>
            <a:ext cx="3163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the spread IS the finding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474720"/>
            <a:ext cx="11155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B1B1F"/>
                </a:solidFill>
                <a:latin typeface="Calibri"/>
              </a:rPr>
              <a:t>Volume-neutral swap: the corrected model approves exactly as many applicants as you do today, so this measures ranking quality, not appetite.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B1B1F"/>
                </a:solidFill>
                <a:latin typeface="Calibri"/>
              </a:rPr>
              <a:t>Yields, losses and LGD are measured from LendingClub's realised cash flows. Cost of funds, servicing and loan life are stated assumptions, and the answer is genuinely sensitive to them - the methodology PDF carries the full sensitivity grid.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B1B1F"/>
                </a:solidFill>
                <a:latin typeface="Calibri"/>
              </a:rPr>
              <a:t>Read the range, not the point estimate.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C2410C"/>
                </a:solidFill>
                <a:latin typeface="Calibr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B1B1F"/>
                </a:solidFill>
                <a:latin typeface="Calibri"/>
              </a:rPr>
              <a:t>What I would actually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1B1F"/>
                </a:solidFill>
                <a:latin typeface="Calibri"/>
              </a:rPr>
              <a:t>Do not adopt a correction you cannot falsify.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3 of the four report a correction on data with provably zero selection bias, the worst by 8 pp. Run the null case before trusting any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45059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1B1F"/>
                </a:solidFill>
                <a:latin typeface="Calibri"/>
              </a:rPr>
              <a:t>Treat the rho result as the headline, not the profit number.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7977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Measured selection bias on the shared fields is small. That is a cheaper finding to act on than a contested dollar figure.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41985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1B1F"/>
                </a:solidFill>
                <a:latin typeface="Calibri"/>
              </a:rPr>
              <a:t>Fix the data before fixing the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749040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67% of declines carry no bureau score. Retaining the decision-time bureau pull on declines would do more for this problem than any estimator.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389120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1B1F"/>
                </a:solidFill>
                <a:latin typeface="Calibri"/>
              </a:rPr>
              <a:t>Run a randomised-approval holdout.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718304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 small random approval band above the cutoff generates the unbiased sample that makes all of this measurable rather than inferred. It is the only clean fix.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358384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1B1F"/>
                </a:solidFill>
                <a:latin typeface="Calibri"/>
              </a:rPr>
              <a:t>Use the ZIP flags to scope a fair-lending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68756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59 ZIPs sit beyond 3 standard deviations of what risk predicts, against 1 expected. That is a place to look, not a conclusion.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